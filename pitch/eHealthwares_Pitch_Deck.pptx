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1.png"/><Relationship Id="rId7" Type="http://schemas.openxmlformats.org/officeDocument/2006/relationships/image" Target="../media/image-14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32A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E7C7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0E7C7B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TECHNOLOGY  •  PITCH DECK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eHealthwares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FD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healthcare data for meaningful use.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healthcare organizations, professionals, patients and information through intelligent healthcare technology.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 Informatics Limited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 •  CTO &amp; Founder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information is disconnected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7FA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/FaPuzzlePie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75175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84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records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134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information is scattered across facilities and systems that don't talk to each other.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7FAFB"/>
          </a:solidFill>
          <a:ln/>
        </p:spPr>
      </p:sp>
      <p:sp>
        <p:nvSpPr>
          <p:cNvPr id="10" name="Shape 7"/>
          <p:cNvSpPr/>
          <p:nvPr/>
        </p:nvSpPr>
        <p:spPr>
          <a:xfrm>
            <a:off x="6336792" y="2039112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s/Fa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55" y="217517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984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coordination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3134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 and organizations struggle to coordinate around a shared picture of the patient.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7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icons/FaMapMarker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418685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95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barriers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3251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face location and communication barriers that stand between them and the right care.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7947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7FA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336792" y="4050792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icons/Fa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855" y="418685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3995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hard to use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43251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health data is difficult to collect, retrieve and meaningfully use at the point of decision.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B3A5C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" y="58978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care, delayed decisions and poor healthcare experiences.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connected healthcare information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2606040"/>
            <a:ext cx="1097280" cy="10972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/FaProject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987" y="286938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location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channel barriers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754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right people, information and workflows.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87452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icons/FaHospit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579" y="20281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74920" y="18562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Information Management Suites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225856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Health Information Management suites for healthcare facilities — the operational backbone for hospitals, labs and pharmacies.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51960" y="32918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2" descr="icons/Fa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579" y="344545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74920" y="32735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Omnichannel Exchange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074920" y="367588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enable free, omnichannel, communication-driven health information exchange — so information moves wherever it's needed.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251960" y="4800600"/>
            <a:ext cx="7315200" cy="1234440"/>
          </a:xfrm>
          <a:prstGeom prst="roundRect">
            <a:avLst>
              <a:gd name="adj" fmla="val 5926"/>
            </a:avLst>
          </a:prstGeom>
          <a:solidFill>
            <a:srgbClr val="EFF4F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572000" y="48006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break location and channel barriers, connecting the right people, information and workflows — wherever care happens.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systems + intelligent information exchange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icons/Fa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75175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08376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6440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medical records and facility management.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5968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2039112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icons/FaPrescriptionBottle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351" y="217517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0288" y="2743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590288" y="3008376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590288" y="326440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for dispensing and inventory.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83296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57616" y="203911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8" name="Image 2" descr="icons/Fa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217517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57616" y="2743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357616" y="3008376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Workflow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357616" y="326440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order and workflow management.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005072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4261104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3" descr="icons/FaExchange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397167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2960" y="496519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230368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4864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Information Exchange across organizations.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15968" y="4005072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90288" y="4261104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0" name="Image 4" descr="icons/FaComment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351" y="4397167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590288" y="496519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Omnichannel</a:t>
            </a:r>
            <a:endParaRPr lang="en-US" sz="1550" dirty="0"/>
          </a:p>
        </p:txBody>
      </p:sp>
      <p:sp>
        <p:nvSpPr>
          <p:cNvPr id="32" name="Text 25"/>
          <p:cNvSpPr txBox="1"/>
          <p:nvPr/>
        </p:nvSpPr>
        <p:spPr>
          <a:xfrm>
            <a:off x="4590288" y="5230368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4590288" y="54864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engine spanning web, SMS, WhatsApp.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083296" y="4005072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57616" y="4261104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6" name="Image 5" descr="icons/FaRobo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679" y="4397167"/>
            <a:ext cx="294803" cy="29480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357616" y="496519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</a:t>
            </a:r>
            <a:endParaRPr lang="en-US" sz="1550" dirty="0"/>
          </a:p>
        </p:txBody>
      </p:sp>
      <p:sp>
        <p:nvSpPr>
          <p:cNvPr id="38" name="Text 30"/>
          <p:cNvSpPr txBox="1"/>
          <p:nvPr/>
        </p:nvSpPr>
        <p:spPr>
          <a:xfrm>
            <a:off x="8357616" y="5230368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MyAIha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8357616" y="54864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 assistant for patients and staff.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information collection to meaningful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48840" y="2926080"/>
            <a:ext cx="292608" cy="0"/>
          </a:xfrm>
          <a:prstGeom prst="line">
            <a:avLst/>
          </a:prstGeom>
          <a:noFill/>
          <a:ln w="19050">
            <a:solidFill>
              <a:srgbClr val="3E5A7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91540" y="246888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/FaClipboard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6883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41648" y="2926080"/>
            <a:ext cx="292608" cy="0"/>
          </a:xfrm>
          <a:prstGeom prst="line">
            <a:avLst/>
          </a:prstGeom>
          <a:noFill/>
          <a:ln w="19050">
            <a:solidFill>
              <a:srgbClr val="3E5A7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784348" y="246888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s/Fa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4" y="26883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41448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258568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34456" y="2926080"/>
            <a:ext cx="292608" cy="0"/>
          </a:xfrm>
          <a:prstGeom prst="line">
            <a:avLst/>
          </a:prstGeom>
          <a:noFill/>
          <a:ln w="19050">
            <a:solidFill>
              <a:srgbClr val="3E5A78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4677156" y="246888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icons/Fa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268833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34256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151376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827264" y="2926080"/>
            <a:ext cx="292608" cy="0"/>
          </a:xfrm>
          <a:prstGeom prst="line">
            <a:avLst/>
          </a:prstGeom>
          <a:noFill/>
          <a:ln w="19050">
            <a:solidFill>
              <a:srgbClr val="3E5A78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6569964" y="246888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icons/FaRou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268833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27064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044184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9720072" y="2926080"/>
            <a:ext cx="292608" cy="0"/>
          </a:xfrm>
          <a:prstGeom prst="line">
            <a:avLst/>
          </a:prstGeom>
          <a:noFill/>
          <a:ln w="19050">
            <a:solidFill>
              <a:srgbClr val="3E5A78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8462772" y="246888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icons/Fa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268833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19872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936992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10355580" y="2468880"/>
            <a:ext cx="914400" cy="9144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30" name="Image 5" descr="icons/FaBol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036" y="2688336"/>
            <a:ext cx="475488" cy="47548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01268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9829800" y="3520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1280160" y="4709160"/>
            <a:ext cx="9601200" cy="1371600"/>
          </a:xfrm>
          <a:prstGeom prst="roundRect">
            <a:avLst>
              <a:gd name="adj" fmla="val 6667"/>
            </a:avLst>
          </a:prstGeom>
          <a:solidFill>
            <a:srgbClr val="132A44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1645920" y="470916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workflow-driven communication connects patients and healthcare stakeholders through appropriate channels, and routes information to the right person, at the right level, at the right time.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an EMR. More than communication.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EFF4F6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21945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/Fa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024" y="23525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questionnaires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88920" y="19202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/>
        </p:spPr>
      </p:sp>
      <p:sp>
        <p:nvSpPr>
          <p:cNvPr id="9" name="Shape 6"/>
          <p:cNvSpPr/>
          <p:nvPr/>
        </p:nvSpPr>
        <p:spPr>
          <a:xfrm>
            <a:off x="3511296" y="21945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icons/Fa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04" y="2352568"/>
            <a:ext cx="342351" cy="342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Workflow-driven communication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0" y="19202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EFF4F6"/>
          </a:solidFill>
          <a:ln/>
        </p:spPr>
      </p:sp>
      <p:sp>
        <p:nvSpPr>
          <p:cNvPr id="13" name="Shape 9"/>
          <p:cNvSpPr/>
          <p:nvPr/>
        </p:nvSpPr>
        <p:spPr>
          <a:xfrm>
            <a:off x="5751576" y="21945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2" descr="icons/FaHospit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584" y="2352568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636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Information Management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269480" y="19202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F7FAFB"/>
          </a:solidFill>
          <a:ln/>
        </p:spPr>
      </p:sp>
      <p:sp>
        <p:nvSpPr>
          <p:cNvPr id="17" name="Shape 12"/>
          <p:cNvSpPr/>
          <p:nvPr/>
        </p:nvSpPr>
        <p:spPr>
          <a:xfrm>
            <a:off x="7991856" y="21945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3" descr="icons/Fa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864" y="2352568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0664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connection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509760" y="19202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EFF4F6"/>
          </a:solidFill>
          <a:ln/>
        </p:spPr>
      </p:sp>
      <p:sp>
        <p:nvSpPr>
          <p:cNvPr id="21" name="Shape 15"/>
          <p:cNvSpPr/>
          <p:nvPr/>
        </p:nvSpPr>
        <p:spPr>
          <a:xfrm>
            <a:off x="10232136" y="21945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4" descr="icons/Fa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0144" y="2352568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4692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information exchange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343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full care team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548640" y="502920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548640" y="50292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37360" y="5029200"/>
            <a:ext cx="932688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1737360" y="502920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2834640" y="5029200"/>
            <a:ext cx="1389888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2834640" y="50292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389120" y="5029200"/>
            <a:ext cx="1115568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389120" y="5029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669280" y="502920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669280" y="5029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040880" y="502920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7040880" y="50292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686800" y="5029200"/>
            <a:ext cx="2304288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8686800" y="5029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Stores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7FAFB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093976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icons/FaUserInju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2225650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77063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FF4F6"/>
          </a:solidFill>
          <a:ln/>
        </p:spPr>
      </p:sp>
      <p:sp>
        <p:nvSpPr>
          <p:cNvPr id="9" name="Shape 6"/>
          <p:cNvSpPr/>
          <p:nvPr/>
        </p:nvSpPr>
        <p:spPr>
          <a:xfrm>
            <a:off x="4366260" y="2093976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0" name="Image 1" descr="icons/FaUserM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934" y="2225650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7288" y="277063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Practitioners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7FAFB"/>
          </a:solidFill>
          <a:ln/>
        </p:spPr>
      </p:sp>
      <p:sp>
        <p:nvSpPr>
          <p:cNvPr id="13" name="Shape 9"/>
          <p:cNvSpPr/>
          <p:nvPr/>
        </p:nvSpPr>
        <p:spPr>
          <a:xfrm>
            <a:off x="7155180" y="2093976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4" name="Image 2" descr="icons/FaBuil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854" y="2225650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36208" y="277063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Organizations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15400" y="18745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FF4F6"/>
          </a:solidFill>
          <a:ln/>
        </p:spPr>
      </p:sp>
      <p:sp>
        <p:nvSpPr>
          <p:cNvPr id="17" name="Shape 12"/>
          <p:cNvSpPr/>
          <p:nvPr/>
        </p:nvSpPr>
        <p:spPr>
          <a:xfrm>
            <a:off x="9944100" y="2093976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8" name="Image 3" descr="icons/FaHospit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774" y="2225650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25128" y="277063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61188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FF4F6"/>
          </a:solidFill>
          <a:ln/>
        </p:spPr>
      </p:sp>
      <p:sp>
        <p:nvSpPr>
          <p:cNvPr id="21" name="Shape 15"/>
          <p:cNvSpPr/>
          <p:nvPr/>
        </p:nvSpPr>
        <p:spPr>
          <a:xfrm>
            <a:off x="1577340" y="383133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4" descr="icons/FaFlas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014" y="3963010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8368" y="450799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337560" y="361188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7FAFB"/>
          </a:solidFill>
          <a:ln/>
        </p:spPr>
      </p:sp>
      <p:sp>
        <p:nvSpPr>
          <p:cNvPr id="25" name="Shape 18"/>
          <p:cNvSpPr/>
          <p:nvPr/>
        </p:nvSpPr>
        <p:spPr>
          <a:xfrm>
            <a:off x="4366260" y="383133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5" descr="icons/FaPrescriptionBottleAl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934" y="3963010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47288" y="450799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26480" y="361188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FF4F6"/>
          </a:solidFill>
          <a:ln/>
        </p:spPr>
      </p:sp>
      <p:sp>
        <p:nvSpPr>
          <p:cNvPr id="29" name="Shape 21"/>
          <p:cNvSpPr/>
          <p:nvPr/>
        </p:nvSpPr>
        <p:spPr>
          <a:xfrm>
            <a:off x="7155180" y="383133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6" descr="icons/FaHandHoldingUs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6854" y="3963010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236208" y="450799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/ HMOs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customers can use and pay for our products and services.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healthcare resources work where they matter most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enable efficient use of time, skills, knowledge and healthcare resources by connecting members to the right information, stakeholder and level of specialist — exactly where applicable.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3017520"/>
            <a:ext cx="713232" cy="71323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7" name="Image 0" descr="icons/Fa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760" y="3188696"/>
            <a:ext cx="370881" cy="3708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Navigation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88920" y="269748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3483864" y="3017520"/>
            <a:ext cx="713232" cy="71323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1" name="Image 1" descr="icons/FaHandsHelp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040" y="3188696"/>
            <a:ext cx="370881" cy="37088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2608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Coordination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0" y="269748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1B3A5C"/>
          </a:solidFill>
          <a:ln/>
        </p:spPr>
      </p:sp>
      <p:sp>
        <p:nvSpPr>
          <p:cNvPr id="14" name="Shape 10"/>
          <p:cNvSpPr/>
          <p:nvPr/>
        </p:nvSpPr>
        <p:spPr>
          <a:xfrm>
            <a:off x="5724144" y="3017520"/>
            <a:ext cx="713232" cy="71323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5" name="Image 2" descr="icons/FaShare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320" y="3188696"/>
            <a:ext cx="370881" cy="37088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Routing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269480" y="269748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1B3A5C"/>
          </a:solidFill>
          <a:ln/>
        </p:spPr>
      </p:sp>
      <p:sp>
        <p:nvSpPr>
          <p:cNvPr id="18" name="Shape 13"/>
          <p:cNvSpPr/>
          <p:nvPr/>
        </p:nvSpPr>
        <p:spPr>
          <a:xfrm>
            <a:off x="7964424" y="3017520"/>
            <a:ext cx="713232" cy="71323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9" name="Image 3" descr="icons/Fa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600" y="3188696"/>
            <a:ext cx="370881" cy="37088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0664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Utilization Efficiency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509760" y="269748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1B3A5C"/>
          </a:solidFill>
          <a:ln/>
        </p:spPr>
      </p:sp>
      <p:sp>
        <p:nvSpPr>
          <p:cNvPr id="22" name="Shape 16"/>
          <p:cNvSpPr/>
          <p:nvPr/>
        </p:nvSpPr>
        <p:spPr>
          <a:xfrm>
            <a:off x="10204704" y="3017520"/>
            <a:ext cx="713232" cy="71323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3" name="Image 4" descr="icons/FaSmi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880" y="3188696"/>
            <a:ext cx="370881" cy="37088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64692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Member Experience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HEALTHCARE INFORMATION EXCHANGE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healthcare data into meaningful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737360" cy="1737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5" name="Image 0" descr="icons/Fa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82926"/>
            <a:ext cx="903427" cy="9034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expertise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Software + AI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0" y="182880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1" descr="icons/FaNetworkWir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30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43400" y="18470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personnel connection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657600" y="248716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2" descr="icons/FaClipboardLi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301" y="2607869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43400" y="25054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collection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3657600" y="3145536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3" descr="icons/Fa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301" y="3266237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343400" y="316382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information retrieval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3657600" y="3803904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4" descr="icons/FaComment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301" y="3924605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43400" y="38221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across multiple channels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3657600" y="446227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5" descr="icons/Fa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301" y="4582973"/>
            <a:ext cx="261518" cy="26151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343400" y="44805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Better-informed healthcare decisions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3657600" y="5394960"/>
            <a:ext cx="7955280" cy="777240"/>
          </a:xfrm>
          <a:prstGeom prst="roundRect">
            <a:avLst>
              <a:gd name="adj" fmla="val 49412"/>
            </a:avLst>
          </a:prstGeom>
          <a:solidFill>
            <a:srgbClr val="1B3A5C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3657600" y="53949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6FD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information.  The right person.  The right time.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operating in real healthcare environments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FD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192024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69080" y="20574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FD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3,000+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0" y="20116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0" descr="icons/Fa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3061" y="2132381"/>
            <a:ext cx="261518" cy="26151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38160" y="2011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workflows already in active, daily use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452360" y="30632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1" descr="icons/Fa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061" y="318394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13816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toward a broader connected healthcare ecosystem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Africa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55280" y="1783080"/>
            <a:ext cx="2834640" cy="2834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5" name="Image 0" descr="icons/FaGlobeAfric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594" y="2463394"/>
            <a:ext cx="1474013" cy="14740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initial focus is the African healthcare market, where fragmented healthcare information and access barriers create significant opportunities for digital transformation.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scale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1" descr="icons/FaHospit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facility implementations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05079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2" descr="icons/FaHandshak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605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4069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EMR and healthcare technology providers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3" descr="icons/Fa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8231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469087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healthcare organizations and professionals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2943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4" descr="icons/FaGlobeAfrica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404104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53126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across ECOWAS and other African markets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B2B2C Healthcare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EF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icons/Fa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372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2441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facility software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15968" y="178308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EFF4F6"/>
          </a:solidFill>
          <a:ln/>
        </p:spPr>
      </p:sp>
      <p:sp>
        <p:nvSpPr>
          <p:cNvPr id="9" name="Shape 6"/>
          <p:cNvSpPr/>
          <p:nvPr/>
        </p:nvSpPr>
        <p:spPr>
          <a:xfrm>
            <a:off x="4544568" y="219456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0" name="Image 1" descr="icons/FaUserM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14" y="23372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76088" y="1783080"/>
            <a:ext cx="2441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solutions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83296" y="178308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EFF4F6"/>
          </a:solidFill>
          <a:ln/>
        </p:spPr>
      </p:sp>
      <p:sp>
        <p:nvSpPr>
          <p:cNvPr id="13" name="Shape 9"/>
          <p:cNvSpPr/>
          <p:nvPr/>
        </p:nvSpPr>
        <p:spPr>
          <a:xfrm>
            <a:off x="8311896" y="219456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4" name="Image 2" descr="icons/FaExchange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542" y="233720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43416" y="1783080"/>
            <a:ext cx="2441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information exchange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F7FAFB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8" name="Image 3" descr="icons/FaFileContra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98312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3429000"/>
            <a:ext cx="2441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technology services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15968" y="342900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F7FAFB"/>
          </a:solidFill>
          <a:ln/>
        </p:spPr>
      </p:sp>
      <p:sp>
        <p:nvSpPr>
          <p:cNvPr id="21" name="Shape 15"/>
          <p:cNvSpPr/>
          <p:nvPr/>
        </p:nvSpPr>
        <p:spPr>
          <a:xfrm>
            <a:off x="4544568" y="384048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2" name="Image 4" descr="icons/Fa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214" y="3983126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76088" y="3429000"/>
            <a:ext cx="2441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solutions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083296" y="342900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F7FAFB"/>
          </a:solidFill>
          <a:ln/>
        </p:spPr>
      </p:sp>
      <p:sp>
        <p:nvSpPr>
          <p:cNvPr id="25" name="Shape 18"/>
          <p:cNvSpPr/>
          <p:nvPr/>
        </p:nvSpPr>
        <p:spPr>
          <a:xfrm>
            <a:off x="8311896" y="384048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6" name="Image 5" descr="icons/FaUserFriend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542" y="3983126"/>
            <a:ext cx="309067" cy="30906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43416" y="3429000"/>
            <a:ext cx="2441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 services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B3A5C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ecosystem serves both healthcare organizations and individual practitioners — while ultimately improving patient access and outcomes.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expertise + Software +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130552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icons/FaSteth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406" y="2273198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46120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E7C7B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0" y="2130552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0" name="Image 1" descr="icons/FaHeartbe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886" y="2273198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4612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943600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E7C7B"/>
          </a:solidFill>
          <a:ln/>
        </p:spPr>
      </p:sp>
      <p:sp>
        <p:nvSpPr>
          <p:cNvPr id="13" name="Shape 9"/>
          <p:cNvSpPr/>
          <p:nvPr/>
        </p:nvSpPr>
        <p:spPr>
          <a:xfrm>
            <a:off x="6903720" y="2130552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4" name="Image 2" descr="icons/FaHospit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66" y="2273198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4360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641080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E7C7B"/>
          </a:solidFill>
          <a:ln/>
        </p:spPr>
      </p:sp>
      <p:sp>
        <p:nvSpPr>
          <p:cNvPr id="17" name="Shape 12"/>
          <p:cNvSpPr/>
          <p:nvPr/>
        </p:nvSpPr>
        <p:spPr>
          <a:xfrm>
            <a:off x="9601200" y="2130552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8" name="Image 3" descr="icons/FaPill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846" y="2273198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4108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Pharmaceutical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/>
        </p:spPr>
      </p:sp>
      <p:sp>
        <p:nvSpPr>
          <p:cNvPr id="21" name="Shape 15"/>
          <p:cNvSpPr/>
          <p:nvPr/>
        </p:nvSpPr>
        <p:spPr>
          <a:xfrm>
            <a:off x="548640" y="416052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2" name="Image 4" descr="icons/Fa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303166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1325880" y="4480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reliable, scalable healthcare systems.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63640" y="416052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6" name="Image 5" descr="icons/FaBra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286" y="4303166"/>
            <a:ext cx="309067" cy="30906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408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AI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7040880" y="4480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grounded in real clinical and operational context.</a:t>
            </a:r>
            <a:endParaRPr lang="en-US" sz="125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understand both the healthcare workflows and the technology required to connect them.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access, experience and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icons/Fa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1973275"/>
            <a:ext cx="213970" cy="213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8470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location and channel barriers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55080" y="187452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1" descr="icons/Fa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835" y="1973275"/>
            <a:ext cx="213970" cy="21397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18470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access to healthcare personnel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53288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2" descr="icons/Fa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2631643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505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access to healthcare information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355080" y="253288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3" descr="icons/Fa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835" y="2631643"/>
            <a:ext cx="213970" cy="21397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505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more coordinated care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191256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4" descr="icons/Fa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3290011"/>
            <a:ext cx="213970" cy="21397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1638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underserved populations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355080" y="3191256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5" descr="icons/Fa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835" y="3290011"/>
            <a:ext cx="213970" cy="21397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1638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healthcare data actionable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384962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6" descr="icons/FaCheck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" y="3948379"/>
            <a:ext cx="213970" cy="21397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97280" y="38221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healthcare outcomes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healthcare system where information moves with the patient.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3337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2331720" cy="777240"/>
          </a:xfrm>
          <a:prstGeom prst="roundRect">
            <a:avLst>
              <a:gd name="adj" fmla="val 49412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3337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20440" y="3383280"/>
            <a:ext cx="2331720" cy="777240"/>
          </a:xfrm>
          <a:prstGeom prst="roundRect">
            <a:avLst>
              <a:gd name="adj" fmla="val 49412"/>
            </a:avLst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3337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55080" y="3383280"/>
            <a:ext cx="2331720" cy="777240"/>
          </a:xfrm>
          <a:prstGeom prst="roundRect">
            <a:avLst>
              <a:gd name="adj" fmla="val 49412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9720" y="3383280"/>
            <a:ext cx="2331720" cy="777240"/>
          </a:xfrm>
          <a:prstGeom prst="roundRect">
            <a:avLst>
              <a:gd name="adj" fmla="val 49412"/>
            </a:avLst>
          </a:prstGeom>
          <a:solidFill>
            <a:srgbClr val="0E7C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972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709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healthcare data accessible, connected and meaningfully usable — wherever it is needed.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LOOKING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 to accelerate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007108" y="2084832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6" name="Image 0" descr="icons/Fa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338" y="2234062"/>
            <a:ext cx="323332" cy="3233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346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Organizations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15968" y="182880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B3A5C"/>
          </a:solidFill>
          <a:ln/>
        </p:spPr>
      </p:sp>
      <p:sp>
        <p:nvSpPr>
          <p:cNvPr id="9" name="Shape 6"/>
          <p:cNvSpPr/>
          <p:nvPr/>
        </p:nvSpPr>
        <p:spPr>
          <a:xfrm>
            <a:off x="5774436" y="2084832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0" name="Image 1" descr="icons/FaHandHoldingUs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666" y="2234062"/>
            <a:ext cx="323332" cy="3233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98848" y="28346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/ HMOs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83296" y="182880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B3A5C"/>
          </a:solidFill>
          <a:ln/>
        </p:spPr>
      </p:sp>
      <p:sp>
        <p:nvSpPr>
          <p:cNvPr id="13" name="Shape 9"/>
          <p:cNvSpPr/>
          <p:nvPr/>
        </p:nvSpPr>
        <p:spPr>
          <a:xfrm>
            <a:off x="9541764" y="2084832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4" name="Image 2" descr="icons/FaHandshak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994" y="2234062"/>
            <a:ext cx="323332" cy="3233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66176" y="28346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Technology Partners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65760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B3A5C"/>
          </a:solidFill>
          <a:ln/>
        </p:spPr>
      </p:sp>
      <p:sp>
        <p:nvSpPr>
          <p:cNvPr id="17" name="Shape 12"/>
          <p:cNvSpPr/>
          <p:nvPr/>
        </p:nvSpPr>
        <p:spPr>
          <a:xfrm>
            <a:off x="2007108" y="3913632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8" name="Image 3" descr="icons/FaExchange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338" y="4062862"/>
            <a:ext cx="323332" cy="3233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1520" y="46634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Partners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15968" y="365760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B3A5C"/>
          </a:solidFill>
          <a:ln/>
        </p:spPr>
      </p:sp>
      <p:sp>
        <p:nvSpPr>
          <p:cNvPr id="21" name="Shape 15"/>
          <p:cNvSpPr/>
          <p:nvPr/>
        </p:nvSpPr>
        <p:spPr>
          <a:xfrm>
            <a:off x="5774436" y="3913632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2" name="Image 4" descr="icons/FaChartPi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666" y="4062862"/>
            <a:ext cx="323332" cy="3233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498848" y="46634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083296" y="365760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B3A5C"/>
          </a:solidFill>
          <a:ln/>
        </p:spPr>
      </p:sp>
      <p:sp>
        <p:nvSpPr>
          <p:cNvPr id="25" name="Shape 18"/>
          <p:cNvSpPr/>
          <p:nvPr/>
        </p:nvSpPr>
        <p:spPr>
          <a:xfrm>
            <a:off x="9541764" y="3913632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6" name="Image 5" descr="icons/FaUs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0994" y="4062862"/>
            <a:ext cx="323332" cy="3233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66176" y="46634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Ecosystem Partners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help us expand adoption, integrate healthcare ecosystems and scale across Africa.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eHealthwares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669280" cy="5669280"/>
          </a:xfrm>
          <a:prstGeom prst="ellipse">
            <a:avLst/>
          </a:prstGeom>
          <a:solidFill>
            <a:srgbClr val="132A44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754880" cy="4754880"/>
          </a:xfrm>
          <a:prstGeom prst="ellipse">
            <a:avLst/>
          </a:prstGeom>
          <a:solidFill>
            <a:srgbClr val="0E7C7B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eHealthwares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FD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healthcare data for meaningful use.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healthcare data, people and workflows to improve healthcare outcomes.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5166360"/>
            <a:ext cx="20116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Founder  •  eHealthwares Informatics Limited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2026-09-15T13:02:59Z</dcterms:created>
  <dcterms:modified xsi:type="dcterms:W3CDTF">2026-09-15T13:02:59Z</dcterms:modified>
</cp:coreProperties>
</file>